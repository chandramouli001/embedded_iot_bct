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7" r:id="rId2"/>
    <p:sldId id="258" r:id="rId3"/>
    <p:sldId id="259" r:id="rId4"/>
    <p:sldId id="260" r:id="rId5"/>
    <p:sldId id="261" r:id="rId6"/>
    <p:sldId id="262" r:id="rId7"/>
    <p:sldId id="304" r:id="rId8"/>
    <p:sldId id="305" r:id="rId9"/>
    <p:sldId id="264" r:id="rId10"/>
    <p:sldId id="265" r:id="rId11"/>
    <p:sldId id="266" r:id="rId12"/>
    <p:sldId id="267" r:id="rId13"/>
    <p:sldId id="268" r:id="rId14"/>
    <p:sldId id="306" r:id="rId15"/>
    <p:sldId id="30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301" r:id="rId38"/>
    <p:sldId id="302" r:id="rId39"/>
    <p:sldId id="303" r:id="rId40"/>
    <p:sldId id="30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E6653-A2F7-4608-A4DE-C0BD0EE95ED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A3665-C678-4A44-A009-52E09B773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3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A3665-C678-4A44-A009-52E09B7738D1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295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3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9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56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34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54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7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4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8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04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4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44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FFBD98F-232A-44BA-9A81-2678653EEF5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0F6729-433C-4AFF-9016-16E43B0FC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29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E7CB-534C-4B1C-812B-6CDBA834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37129"/>
            <a:ext cx="9948672" cy="3230902"/>
          </a:xfrm>
        </p:spPr>
        <p:txBody>
          <a:bodyPr/>
          <a:lstStyle/>
          <a:p>
            <a:pPr algn="r"/>
            <a:r>
              <a:rPr lang="en-IN" sz="8800" dirty="0"/>
              <a:t>Embedded Systems and </a:t>
            </a:r>
            <a:r>
              <a:rPr lang="en-IN" sz="8800" dirty="0">
                <a:solidFill>
                  <a:schemeClr val="accent1"/>
                </a:solidFill>
              </a:rPr>
              <a:t>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965D7-5D7C-4331-A8B3-32BD1584D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8302752" cy="1069848"/>
          </a:xfrm>
        </p:spPr>
        <p:txBody>
          <a:bodyPr/>
          <a:lstStyle/>
          <a:p>
            <a:r>
              <a:rPr lang="en-US" dirty="0"/>
              <a:t>Introduction to Embedded Systems;   Day -1</a:t>
            </a:r>
          </a:p>
          <a:p>
            <a:pPr algn="r"/>
            <a:r>
              <a:rPr lang="en-US" dirty="0"/>
              <a:t>By- Chandramouli Haldar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65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FFBE-08AF-4C34-AB57-02971223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Embedded System?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2B44-9BF1-40E8-853B-154809B46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Abadi" panose="020B0604020104020204" pitchFamily="34" charset="0"/>
              </a:rPr>
              <a:t>An embedded system is a specialized computing device designed for a specific task within a larger mechanical or electrical system</a:t>
            </a:r>
          </a:p>
          <a:p>
            <a:r>
              <a:rPr lang="en-US" sz="2400" b="0" i="0" dirty="0">
                <a:effectLst/>
                <a:latin typeface="Abadi" panose="020B0604020104020204" pitchFamily="34" charset="0"/>
              </a:rPr>
              <a:t>Unlike general-purpose computers, these systems combine hardware and software to perform dedicated functions often in real-time such as washing machine, Home Automation, or operating a medical device</a:t>
            </a:r>
          </a:p>
          <a:p>
            <a:r>
              <a:rPr lang="en-US" sz="2400" b="1" u="sng" strike="noStrike" dirty="0">
                <a:effectLst/>
                <a:latin typeface="Abadi" panose="020B0604020104020204" pitchFamily="34" charset="0"/>
              </a:rPr>
              <a:t>Why embedded ? </a:t>
            </a:r>
            <a:r>
              <a:rPr lang="en-US" sz="2400" dirty="0">
                <a:latin typeface="Abadi" panose="020B0604020104020204" pitchFamily="34" charset="0"/>
              </a:rPr>
              <a:t>because it is a specialized computer system </a:t>
            </a:r>
            <a:r>
              <a:rPr lang="en-US" sz="2400" b="1" u="none" strike="noStrike" dirty="0">
                <a:effectLst/>
                <a:latin typeface="Abadi" panose="020B0604020104020204" pitchFamily="34" charset="0"/>
              </a:rPr>
              <a:t>integrated within a larger mechanical or electrical product</a:t>
            </a:r>
            <a:r>
              <a:rPr lang="en-US" sz="2400" dirty="0">
                <a:latin typeface="Abadi" panose="020B0604020104020204" pitchFamily="34" charset="0"/>
              </a:rPr>
              <a:t> to perform a specific function</a:t>
            </a:r>
            <a:endParaRPr lang="en-IN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7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pplications of Embedded Systems">
            <a:extLst>
              <a:ext uri="{FF2B5EF4-FFF2-40B4-BE49-F238E27FC236}">
                <a16:creationId xmlns:a16="http://schemas.microsoft.com/office/drawing/2014/main" id="{1A070197-73C9-4AAC-93FB-762614996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867" y="765782"/>
            <a:ext cx="9488900" cy="532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75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5B9A-743D-4B98-9F71-3DE25080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Embedded Systems?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31EF9-41CB-483E-953A-80EBDD965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automate tasks</a:t>
            </a:r>
          </a:p>
          <a:p>
            <a:r>
              <a:rPr lang="en-US" sz="2400" dirty="0"/>
              <a:t>To make devices smart</a:t>
            </a:r>
          </a:p>
          <a:p>
            <a:r>
              <a:rPr lang="en-US" sz="2400" dirty="0"/>
              <a:t>To reduce human effort</a:t>
            </a:r>
          </a:p>
          <a:p>
            <a:r>
              <a:rPr lang="en-US" sz="2400" dirty="0"/>
              <a:t>To work fast and reliably</a:t>
            </a:r>
          </a:p>
          <a:p>
            <a:r>
              <a:rPr lang="en-IN" sz="2400" dirty="0"/>
              <a:t>Compact and lightweight design</a:t>
            </a:r>
          </a:p>
          <a:p>
            <a:r>
              <a:rPr lang="en-IN" sz="2400" dirty="0"/>
              <a:t>Cost-effective solutions</a:t>
            </a:r>
          </a:p>
        </p:txBody>
      </p:sp>
    </p:spTree>
    <p:extLst>
      <p:ext uri="{BB962C8B-B14F-4D97-AF65-F5344CB8AC3E}">
        <p14:creationId xmlns:p14="http://schemas.microsoft.com/office/powerpoint/2010/main" val="88431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0759-0687-4B81-85DA-3A65B89B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an Embedded System Work?</a:t>
            </a:r>
            <a:endParaRPr lang="en-IN" dirty="0"/>
          </a:p>
        </p:txBody>
      </p:sp>
      <p:pic>
        <p:nvPicPr>
          <p:cNvPr id="3074" name="Picture 2" descr="What is Embedded System and How it Works?">
            <a:extLst>
              <a:ext uri="{FF2B5EF4-FFF2-40B4-BE49-F238E27FC236}">
                <a16:creationId xmlns:a16="http://schemas.microsoft.com/office/drawing/2014/main" id="{26398B1B-7955-4296-8D1D-2905CD9E48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" t="3085" r="3353" b="6426"/>
          <a:stretch/>
        </p:blipFill>
        <p:spPr bwMode="auto">
          <a:xfrm>
            <a:off x="6096000" y="1899950"/>
            <a:ext cx="4450976" cy="495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1FAF8-6C65-4950-9A67-70C1AB924B19}"/>
              </a:ext>
            </a:extLst>
          </p:cNvPr>
          <p:cNvSpPr txBox="1"/>
          <p:nvPr/>
        </p:nvSpPr>
        <p:spPr>
          <a:xfrm>
            <a:off x="1069848" y="3198167"/>
            <a:ext cx="4450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Input → Process → Output</a:t>
            </a:r>
          </a:p>
        </p:txBody>
      </p:sp>
    </p:spTree>
    <p:extLst>
      <p:ext uri="{BB962C8B-B14F-4D97-AF65-F5344CB8AC3E}">
        <p14:creationId xmlns:p14="http://schemas.microsoft.com/office/powerpoint/2010/main" val="266467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8C6E-CC9C-4F9A-B732-9B680E07B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Embedded Systems</a:t>
            </a:r>
            <a:endParaRPr lang="en-IN" dirty="0"/>
          </a:p>
        </p:txBody>
      </p:sp>
      <p:pic>
        <p:nvPicPr>
          <p:cNvPr id="4098" name="Picture 2" descr="embedded systems components, components of embedded systems, basic components of embedded system, software components of embedded system, hardware components of embedded system">
            <a:extLst>
              <a:ext uri="{FF2B5EF4-FFF2-40B4-BE49-F238E27FC236}">
                <a16:creationId xmlns:a16="http://schemas.microsoft.com/office/drawing/2014/main" id="{5264EF40-5C78-4BFC-9CDD-2C0053046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12141" r="7344" b="18231"/>
          <a:stretch/>
        </p:blipFill>
        <p:spPr bwMode="auto">
          <a:xfrm>
            <a:off x="2043953" y="2093976"/>
            <a:ext cx="7595454" cy="427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93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A1E0-7BD7-4D67-B477-E7A7AE547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2735" y="519855"/>
            <a:ext cx="5553265" cy="5414962"/>
          </a:xfrm>
        </p:spPr>
        <p:txBody>
          <a:bodyPr/>
          <a:lstStyle/>
          <a:p>
            <a:r>
              <a:rPr lang="en-US" b="1" dirty="0"/>
              <a:t>1. What is an Embedded System?</a:t>
            </a:r>
          </a:p>
          <a:p>
            <a:r>
              <a:rPr lang="en-US" dirty="0"/>
              <a:t>A) A general-purpose computer</a:t>
            </a:r>
            <a:br>
              <a:rPr lang="en-US" dirty="0"/>
            </a:br>
            <a:r>
              <a:rPr lang="en-US" dirty="0"/>
              <a:t>B) A specialized system designed for specific tasks </a:t>
            </a:r>
            <a:br>
              <a:rPr lang="en-US" dirty="0"/>
            </a:br>
            <a:r>
              <a:rPr lang="en-US" dirty="0"/>
              <a:t>C) A gaming console</a:t>
            </a:r>
            <a:br>
              <a:rPr lang="en-US" dirty="0"/>
            </a:br>
            <a:r>
              <a:rPr lang="en-US" dirty="0"/>
              <a:t>D) A networking device</a:t>
            </a:r>
          </a:p>
          <a:p>
            <a:endParaRPr lang="en-US" dirty="0"/>
          </a:p>
          <a:p>
            <a:r>
              <a:rPr lang="en-US" b="1" dirty="0"/>
              <a:t>2. Which of the following is NOT an Embedded System?</a:t>
            </a:r>
          </a:p>
          <a:p>
            <a:r>
              <a:rPr lang="en-US" dirty="0"/>
              <a:t>A) Washing machine</a:t>
            </a:r>
            <a:br>
              <a:rPr lang="en-US" dirty="0"/>
            </a:br>
            <a:r>
              <a:rPr lang="en-US" dirty="0"/>
              <a:t>B) Microwave oven</a:t>
            </a:r>
            <a:br>
              <a:rPr lang="en-US" dirty="0"/>
            </a:br>
            <a:r>
              <a:rPr lang="en-US" dirty="0"/>
              <a:t>C) Desktop computer </a:t>
            </a:r>
            <a:br>
              <a:rPr lang="en-US" dirty="0"/>
            </a:br>
            <a:r>
              <a:rPr lang="en-US" dirty="0"/>
              <a:t>D) ATM machine</a:t>
            </a:r>
          </a:p>
          <a:p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5F443CF-E1FA-4BE1-AD83-D54DD6619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5861" y="519855"/>
            <a:ext cx="5023104" cy="5414962"/>
          </a:xfrm>
        </p:spPr>
        <p:txBody>
          <a:bodyPr/>
          <a:lstStyle/>
          <a:p>
            <a:r>
              <a:rPr lang="en-US" b="1" dirty="0"/>
              <a:t>3. Why do we use Embedded Systems?</a:t>
            </a:r>
          </a:p>
          <a:p>
            <a:r>
              <a:rPr lang="en-US" dirty="0"/>
              <a:t>A) To increase device size</a:t>
            </a:r>
            <a:br>
              <a:rPr lang="en-US" dirty="0"/>
            </a:br>
            <a:r>
              <a:rPr lang="en-US" dirty="0"/>
              <a:t>B) To automate tasks and improve efficiency </a:t>
            </a:r>
            <a:br>
              <a:rPr lang="en-US" dirty="0"/>
            </a:br>
            <a:r>
              <a:rPr lang="en-US" dirty="0"/>
              <a:t>C) To consume more power</a:t>
            </a:r>
            <a:br>
              <a:rPr lang="en-US" dirty="0"/>
            </a:br>
            <a:r>
              <a:rPr lang="en-US" dirty="0"/>
              <a:t>D) To slow down processes</a:t>
            </a:r>
          </a:p>
          <a:p>
            <a:r>
              <a:rPr lang="en-IN" b="1" dirty="0"/>
              <a:t>4. How does an Embedded System work?</a:t>
            </a:r>
          </a:p>
          <a:p>
            <a:r>
              <a:rPr lang="en-IN" dirty="0"/>
              <a:t>A) Output → Input → Process</a:t>
            </a:r>
            <a:br>
              <a:rPr lang="en-IN" dirty="0"/>
            </a:br>
            <a:r>
              <a:rPr lang="en-IN" dirty="0"/>
              <a:t>B) Input → Process → Output </a:t>
            </a:r>
            <a:br>
              <a:rPr lang="en-IN" dirty="0"/>
            </a:br>
            <a:r>
              <a:rPr lang="en-IN" dirty="0"/>
              <a:t>C) Process → Output → Input</a:t>
            </a:r>
            <a:br>
              <a:rPr lang="en-IN" dirty="0"/>
            </a:br>
            <a:r>
              <a:rPr lang="en-IN" dirty="0"/>
              <a:t>D) Input → Output → Process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C3EB21-2090-4416-B7CD-686BF57ED01B}"/>
              </a:ext>
            </a:extLst>
          </p:cNvPr>
          <p:cNvSpPr txBox="1"/>
          <p:nvPr/>
        </p:nvSpPr>
        <p:spPr>
          <a:xfrm>
            <a:off x="673035" y="4933471"/>
            <a:ext cx="78137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5. What are the core components of an Embedded System?</a:t>
            </a:r>
          </a:p>
          <a:p>
            <a:r>
              <a:rPr lang="en-US" sz="2000" dirty="0"/>
              <a:t>A) CPU, Monitor, Keyboard</a:t>
            </a:r>
            <a:br>
              <a:rPr lang="en-US" sz="2000" dirty="0"/>
            </a:br>
            <a:r>
              <a:rPr lang="en-US" sz="2000" dirty="0"/>
              <a:t>B) Input, Processor, Output, Power Supply, Software </a:t>
            </a:r>
            <a:br>
              <a:rPr lang="en-US" sz="2000" dirty="0"/>
            </a:br>
            <a:r>
              <a:rPr lang="en-US" sz="2000" dirty="0"/>
              <a:t>C) Only Software</a:t>
            </a:r>
            <a:br>
              <a:rPr lang="en-US" sz="2000" dirty="0"/>
            </a:br>
            <a:r>
              <a:rPr lang="en-US" sz="2000" dirty="0"/>
              <a:t>D) Only Hardware</a:t>
            </a:r>
          </a:p>
        </p:txBody>
      </p:sp>
    </p:spTree>
    <p:extLst>
      <p:ext uri="{BB962C8B-B14F-4D97-AF65-F5344CB8AC3E}">
        <p14:creationId xmlns:p14="http://schemas.microsoft.com/office/powerpoint/2010/main" val="1120749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A1E0-7BD7-4D67-B477-E7A7AE547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2735" y="519855"/>
            <a:ext cx="5553265" cy="5414962"/>
          </a:xfrm>
        </p:spPr>
        <p:txBody>
          <a:bodyPr/>
          <a:lstStyle/>
          <a:p>
            <a:r>
              <a:rPr lang="en-US" b="1" dirty="0"/>
              <a:t>1. What is an Embedded System?</a:t>
            </a:r>
          </a:p>
          <a:p>
            <a:r>
              <a:rPr lang="en-US" dirty="0"/>
              <a:t>A) A general-purpose computer</a:t>
            </a:r>
            <a:br>
              <a:rPr lang="en-US" dirty="0"/>
            </a:br>
            <a:r>
              <a:rPr lang="en-US" dirty="0"/>
              <a:t>B) A specialized system designed for specific tasks ✅</a:t>
            </a:r>
            <a:br>
              <a:rPr lang="en-US" dirty="0"/>
            </a:br>
            <a:r>
              <a:rPr lang="en-US" dirty="0"/>
              <a:t>C) A gaming console</a:t>
            </a:r>
            <a:br>
              <a:rPr lang="en-US" dirty="0"/>
            </a:br>
            <a:r>
              <a:rPr lang="en-US" dirty="0"/>
              <a:t>D) A networking device</a:t>
            </a:r>
          </a:p>
          <a:p>
            <a:endParaRPr lang="en-US" dirty="0"/>
          </a:p>
          <a:p>
            <a:r>
              <a:rPr lang="en-US" b="1" dirty="0"/>
              <a:t>2. Which of the following is NOT an Embedded System?</a:t>
            </a:r>
          </a:p>
          <a:p>
            <a:r>
              <a:rPr lang="en-US" dirty="0"/>
              <a:t>A) Washing machine</a:t>
            </a:r>
            <a:br>
              <a:rPr lang="en-US" dirty="0"/>
            </a:br>
            <a:r>
              <a:rPr lang="en-US" dirty="0"/>
              <a:t>B) Microwave oven</a:t>
            </a:r>
            <a:br>
              <a:rPr lang="en-US" dirty="0"/>
            </a:br>
            <a:r>
              <a:rPr lang="en-US" dirty="0"/>
              <a:t>C) Desktop computer ✅</a:t>
            </a:r>
            <a:br>
              <a:rPr lang="en-US" dirty="0"/>
            </a:br>
            <a:r>
              <a:rPr lang="en-US" dirty="0"/>
              <a:t>D) ATM machine</a:t>
            </a:r>
          </a:p>
          <a:p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5F443CF-E1FA-4BE1-AD83-D54DD6619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5861" y="519855"/>
            <a:ext cx="5023104" cy="5414962"/>
          </a:xfrm>
        </p:spPr>
        <p:txBody>
          <a:bodyPr/>
          <a:lstStyle/>
          <a:p>
            <a:r>
              <a:rPr lang="en-US" b="1" dirty="0"/>
              <a:t>3. Why do we use Embedded Systems?</a:t>
            </a:r>
          </a:p>
          <a:p>
            <a:r>
              <a:rPr lang="en-US" dirty="0"/>
              <a:t>A) To increase device size</a:t>
            </a:r>
            <a:br>
              <a:rPr lang="en-US" dirty="0"/>
            </a:br>
            <a:r>
              <a:rPr lang="en-US" dirty="0"/>
              <a:t>B) To automate tasks and improve efficiency ✅</a:t>
            </a:r>
            <a:br>
              <a:rPr lang="en-US" dirty="0"/>
            </a:br>
            <a:r>
              <a:rPr lang="en-US" dirty="0"/>
              <a:t>C) To consume more power</a:t>
            </a:r>
            <a:br>
              <a:rPr lang="en-US" dirty="0"/>
            </a:br>
            <a:r>
              <a:rPr lang="en-US" dirty="0"/>
              <a:t>D) To slow down processes</a:t>
            </a:r>
          </a:p>
          <a:p>
            <a:r>
              <a:rPr lang="en-IN" b="1" dirty="0"/>
              <a:t>4. How does an Embedded System work?</a:t>
            </a:r>
          </a:p>
          <a:p>
            <a:r>
              <a:rPr lang="en-IN" dirty="0"/>
              <a:t>A) Output → Input → Process</a:t>
            </a:r>
            <a:br>
              <a:rPr lang="en-IN" dirty="0"/>
            </a:br>
            <a:r>
              <a:rPr lang="en-IN" dirty="0"/>
              <a:t>B) Input → Process → Output ✅</a:t>
            </a:r>
            <a:br>
              <a:rPr lang="en-IN" dirty="0"/>
            </a:br>
            <a:r>
              <a:rPr lang="en-IN" dirty="0"/>
              <a:t>C) Process → Output → Input</a:t>
            </a:r>
            <a:br>
              <a:rPr lang="en-IN" dirty="0"/>
            </a:br>
            <a:r>
              <a:rPr lang="en-IN" dirty="0"/>
              <a:t>D) Input → Output → Process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C3EB21-2090-4416-B7CD-686BF57ED01B}"/>
              </a:ext>
            </a:extLst>
          </p:cNvPr>
          <p:cNvSpPr txBox="1"/>
          <p:nvPr/>
        </p:nvSpPr>
        <p:spPr>
          <a:xfrm>
            <a:off x="673035" y="4933471"/>
            <a:ext cx="78137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5. What are the core components of an Embedded System?</a:t>
            </a:r>
          </a:p>
          <a:p>
            <a:r>
              <a:rPr lang="en-US" sz="2000" dirty="0"/>
              <a:t>A) CPU, Monitor, Keyboard</a:t>
            </a:r>
            <a:br>
              <a:rPr lang="en-US" sz="2000" dirty="0"/>
            </a:br>
            <a:r>
              <a:rPr lang="en-US" sz="2000" dirty="0"/>
              <a:t>B) Input, Processor, Output, Power Supply, Software ✅</a:t>
            </a:r>
            <a:br>
              <a:rPr lang="en-US" sz="2000" dirty="0"/>
            </a:br>
            <a:r>
              <a:rPr lang="en-US" sz="2000" dirty="0"/>
              <a:t>C) Only Software</a:t>
            </a:r>
            <a:br>
              <a:rPr lang="en-US" sz="2000" dirty="0"/>
            </a:br>
            <a:r>
              <a:rPr lang="en-US" sz="2000" dirty="0"/>
              <a:t>D) Only Hardware</a:t>
            </a:r>
          </a:p>
        </p:txBody>
      </p:sp>
    </p:spTree>
    <p:extLst>
      <p:ext uri="{BB962C8B-B14F-4D97-AF65-F5344CB8AC3E}">
        <p14:creationId xmlns:p14="http://schemas.microsoft.com/office/powerpoint/2010/main" val="331436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CBDC-AE3F-4CA0-AB2A-3DD59A80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Characteristics of an Embedded System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7CDD7-6140-41A3-8280-809329781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Performs specific task: </a:t>
            </a:r>
            <a:r>
              <a:rPr lang="en-US" sz="2400" dirty="0"/>
              <a:t>Embedded systems perform some specific function or tasks.</a:t>
            </a:r>
          </a:p>
          <a:p>
            <a:r>
              <a:rPr lang="en-US" sz="2400" b="1" dirty="0"/>
              <a:t>Low Cost</a:t>
            </a:r>
            <a:r>
              <a:rPr lang="en-US" sz="2400" dirty="0"/>
              <a:t>: The price of an embedded system is not so expensive.</a:t>
            </a:r>
          </a:p>
          <a:p>
            <a:r>
              <a:rPr lang="en-US" sz="2400" b="1" dirty="0"/>
              <a:t>Time Specific</a:t>
            </a:r>
            <a:r>
              <a:rPr lang="en-US" sz="2400" dirty="0"/>
              <a:t>: It performs the tasks within a certain time frame.</a:t>
            </a:r>
          </a:p>
          <a:p>
            <a:r>
              <a:rPr lang="en-US" sz="2400" b="1" dirty="0"/>
              <a:t>Low Power</a:t>
            </a:r>
            <a:r>
              <a:rPr lang="en-US" sz="2400" dirty="0"/>
              <a:t>: Embedded Systems don't require much power to operate.</a:t>
            </a:r>
          </a:p>
          <a:p>
            <a:r>
              <a:rPr lang="en-US" sz="2400" b="1" dirty="0"/>
              <a:t>High Efficiency</a:t>
            </a:r>
            <a:r>
              <a:rPr lang="en-US" sz="2400" dirty="0"/>
              <a:t>: The efficiency level of embedded systems is so high.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84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CBDC-AE3F-4CA0-AB2A-3DD59A80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Characteristics of an Embedded System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7CDD7-6140-41A3-8280-809329781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Minimal User interface</a:t>
            </a:r>
            <a:r>
              <a:rPr lang="en-US" sz="2400" dirty="0"/>
              <a:t>: These systems require less user interface and are easy to use.</a:t>
            </a:r>
          </a:p>
          <a:p>
            <a:r>
              <a:rPr lang="en-US" sz="2400" b="1" dirty="0"/>
              <a:t>Less Human intervention</a:t>
            </a:r>
            <a:r>
              <a:rPr lang="en-US" sz="2400" dirty="0"/>
              <a:t>: Embedded systems require no human intervention or very less human intervention.</a:t>
            </a:r>
          </a:p>
          <a:p>
            <a:r>
              <a:rPr lang="en-US" sz="2400" b="1" dirty="0"/>
              <a:t>Highly Stable</a:t>
            </a:r>
            <a:r>
              <a:rPr lang="en-US" sz="2400" dirty="0"/>
              <a:t>: Embedded systems do not change frequently mostly fixed maintaining stability.</a:t>
            </a:r>
          </a:p>
          <a:p>
            <a:r>
              <a:rPr lang="en-US" sz="2400" b="1" dirty="0"/>
              <a:t>High Reliability</a:t>
            </a:r>
            <a:r>
              <a:rPr lang="en-US" sz="2400" dirty="0"/>
              <a:t>: Embedded systems are reliable they perform tasks consistently well.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901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9BCD3A8-76AB-4438-8E0F-BAC331FA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411" y="967638"/>
            <a:ext cx="9445177" cy="57332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3F54A46-5638-4AE7-81C0-54A812580B8B}"/>
              </a:ext>
            </a:extLst>
          </p:cNvPr>
          <p:cNvSpPr txBox="1">
            <a:spLocks/>
          </p:cNvSpPr>
          <p:nvPr/>
        </p:nvSpPr>
        <p:spPr>
          <a:xfrm>
            <a:off x="588737" y="320918"/>
            <a:ext cx="12663488" cy="16077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Difference Between General Purpose Computer vs Embedded systems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6072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4F78-A613-40C5-8C21-4BCE7204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Advantages / Disadvantages of Embedded systems </a:t>
            </a:r>
            <a:endParaRPr lang="en-IN" sz="4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81E268-8767-4F5C-8E77-C0BA128373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94012" y="2093976"/>
          <a:ext cx="9403976" cy="4020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8649">
                  <a:extLst>
                    <a:ext uri="{9D8B030D-6E8A-4147-A177-3AD203B41FA5}">
                      <a16:colId xmlns:a16="http://schemas.microsoft.com/office/drawing/2014/main" val="1063774903"/>
                    </a:ext>
                  </a:extLst>
                </a:gridCol>
                <a:gridCol w="4935327">
                  <a:extLst>
                    <a:ext uri="{9D8B030D-6E8A-4147-A177-3AD203B41FA5}">
                      <a16:colId xmlns:a16="http://schemas.microsoft.com/office/drawing/2014/main" val="3826311795"/>
                    </a:ext>
                  </a:extLst>
                </a:gridCol>
              </a:tblGrid>
              <a:tr h="4690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67041"/>
                  </a:ext>
                </a:extLst>
              </a:tr>
              <a:tr h="837646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Efficiency and Performance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Processing Power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091166"/>
                  </a:ext>
                </a:extLst>
              </a:tr>
              <a:tr h="837646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Power Consumption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Flexibility and Upgradability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436477"/>
                  </a:ext>
                </a:extLst>
              </a:tr>
              <a:tr h="469082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Compact Size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Development Complexity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06362"/>
                  </a:ext>
                </a:extLst>
              </a:tr>
              <a:tr h="469082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Cost-Effectiveness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 of Development (Initial)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510616"/>
                  </a:ext>
                </a:extLst>
              </a:tr>
              <a:tr h="469082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Capabilities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Scalability Issues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76390"/>
                  </a:ext>
                </a:extLst>
              </a:tr>
              <a:tr h="469082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Reliability and Stability</a:t>
                      </a:r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IN" sz="22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Maintenance and Support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968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154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ypes of Embedded System">
            <a:extLst>
              <a:ext uri="{FF2B5EF4-FFF2-40B4-BE49-F238E27FC236}">
                <a16:creationId xmlns:a16="http://schemas.microsoft.com/office/drawing/2014/main" id="{1E14CF66-1BED-4731-AA42-4274F81A3E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8" b="15310"/>
          <a:stretch/>
        </p:blipFill>
        <p:spPr bwMode="auto">
          <a:xfrm>
            <a:off x="1140408" y="650081"/>
            <a:ext cx="9911183" cy="555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28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BA896-E757-44D7-89F0-23D19473B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457200"/>
            <a:ext cx="5386387" cy="5715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Which is a characteristic of an embedded system?</a:t>
            </a:r>
            <a:br>
              <a:rPr lang="en-US" dirty="0"/>
            </a:br>
            <a:r>
              <a:rPr lang="en-US" dirty="0"/>
              <a:t>A) General-purpose usage</a:t>
            </a:r>
            <a:br>
              <a:rPr lang="en-US" dirty="0"/>
            </a:br>
            <a:r>
              <a:rPr lang="en-US" dirty="0"/>
              <a:t>B) Performs specific tasks </a:t>
            </a:r>
            <a:br>
              <a:rPr lang="en-US" dirty="0"/>
            </a:br>
            <a:r>
              <a:rPr lang="en-US" dirty="0"/>
              <a:t>C) High power consumption</a:t>
            </a:r>
            <a:br>
              <a:rPr lang="en-US" dirty="0"/>
            </a:br>
            <a:r>
              <a:rPr lang="en-US" dirty="0"/>
              <a:t>D) Large size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Embedded systems are designed to:</a:t>
            </a:r>
            <a:br>
              <a:rPr lang="en-US" dirty="0"/>
            </a:br>
            <a:r>
              <a:rPr lang="en-US" dirty="0"/>
              <a:t>A) Perform multiple unrelated tasks</a:t>
            </a:r>
            <a:br>
              <a:rPr lang="en-US" dirty="0"/>
            </a:br>
            <a:r>
              <a:rPr lang="en-US" dirty="0"/>
              <a:t>B) Perform a specific task </a:t>
            </a:r>
            <a:br>
              <a:rPr lang="en-US" dirty="0"/>
            </a:br>
            <a:r>
              <a:rPr lang="en-US" dirty="0"/>
              <a:t>C) Run heavy software</a:t>
            </a:r>
            <a:br>
              <a:rPr lang="en-US" dirty="0"/>
            </a:br>
            <a:r>
              <a:rPr lang="en-US" dirty="0"/>
              <a:t>D) Store large data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One advantage of embedded systems is:</a:t>
            </a:r>
            <a:br>
              <a:rPr lang="en-US" dirty="0"/>
            </a:br>
            <a:r>
              <a:rPr lang="en-US" dirty="0"/>
              <a:t>A) High power consumption</a:t>
            </a:r>
            <a:br>
              <a:rPr lang="en-US" dirty="0"/>
            </a:br>
            <a:r>
              <a:rPr lang="en-US" dirty="0"/>
              <a:t>B) Low efficiency</a:t>
            </a:r>
            <a:br>
              <a:rPr lang="en-US" dirty="0"/>
            </a:br>
            <a:r>
              <a:rPr lang="en-US" dirty="0"/>
              <a:t>C) High efficiency and performance </a:t>
            </a:r>
            <a:br>
              <a:rPr lang="en-US" dirty="0"/>
            </a:br>
            <a:r>
              <a:rPr lang="en-US" dirty="0"/>
              <a:t>D) Large size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EA7C4-1534-49DC-BA4E-BBC06E5E4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457200"/>
            <a:ext cx="5386386" cy="5715000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/>
              <a:t>A disadvantage of embedded systems is:</a:t>
            </a:r>
            <a:br>
              <a:rPr lang="en-US" dirty="0"/>
            </a:br>
            <a:r>
              <a:rPr lang="en-US" dirty="0"/>
              <a:t>A) High flexibility</a:t>
            </a:r>
            <a:br>
              <a:rPr lang="en-US" dirty="0"/>
            </a:br>
            <a:r>
              <a:rPr lang="en-US" dirty="0"/>
              <a:t>B) Limited processing power </a:t>
            </a:r>
            <a:br>
              <a:rPr lang="en-US" dirty="0"/>
            </a:br>
            <a:r>
              <a:rPr lang="en-US" dirty="0"/>
              <a:t>C) Large size</a:t>
            </a:r>
            <a:br>
              <a:rPr lang="en-US" dirty="0"/>
            </a:br>
            <a:r>
              <a:rPr lang="en-US" dirty="0"/>
              <a:t>D) High energy use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Which of the following is an example of a real-time embedded system?</a:t>
            </a:r>
            <a:br>
              <a:rPr lang="en-US" dirty="0"/>
            </a:br>
            <a:r>
              <a:rPr lang="en-US" dirty="0"/>
              <a:t>A) Digital clock</a:t>
            </a:r>
            <a:br>
              <a:rPr lang="en-US" dirty="0"/>
            </a:br>
            <a:r>
              <a:rPr lang="en-US" dirty="0"/>
              <a:t>B) Heart rate monitor in ICU </a:t>
            </a:r>
            <a:br>
              <a:rPr lang="en-US" dirty="0"/>
            </a:br>
            <a:r>
              <a:rPr lang="en-US" dirty="0"/>
              <a:t>C) Calculator</a:t>
            </a:r>
            <a:br>
              <a:rPr lang="en-US" dirty="0"/>
            </a:br>
            <a:r>
              <a:rPr lang="en-US" dirty="0"/>
              <a:t>D) MP3 player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/>
              <a:t>Which of the following is NOT a standalone embedded system?  A)Digital camera</a:t>
            </a:r>
            <a:br>
              <a:rPr lang="en-US" dirty="0"/>
            </a:br>
            <a:r>
              <a:rPr lang="en-US" dirty="0"/>
              <a:t>B) Microwave oven</a:t>
            </a:r>
            <a:br>
              <a:rPr lang="en-US" dirty="0"/>
            </a:br>
            <a:r>
              <a:rPr lang="en-US" dirty="0"/>
              <a:t>C) Washing machine</a:t>
            </a:r>
            <a:br>
              <a:rPr lang="en-US" dirty="0"/>
            </a:br>
            <a:r>
              <a:rPr lang="en-US" dirty="0"/>
              <a:t>D) Network router </a:t>
            </a:r>
          </a:p>
          <a:p>
            <a:pPr marL="457200" indent="-457200">
              <a:buFont typeface="+mj-lt"/>
              <a:buAutoNum type="arabicPeriod" startAt="4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01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BA896-E757-44D7-89F0-23D19473B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457200"/>
            <a:ext cx="5386387" cy="5715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Which is a characteristic of an embedded system?</a:t>
            </a:r>
            <a:br>
              <a:rPr lang="en-US" dirty="0"/>
            </a:br>
            <a:r>
              <a:rPr lang="en-US" dirty="0"/>
              <a:t>A) General-purpose usage</a:t>
            </a:r>
            <a:br>
              <a:rPr lang="en-US" dirty="0"/>
            </a:br>
            <a:r>
              <a:rPr lang="en-US" dirty="0"/>
              <a:t>B) Performs specific tasks ✅</a:t>
            </a:r>
            <a:br>
              <a:rPr lang="en-US" dirty="0"/>
            </a:br>
            <a:r>
              <a:rPr lang="en-US" dirty="0"/>
              <a:t>C) High power consumption</a:t>
            </a:r>
            <a:br>
              <a:rPr lang="en-US" dirty="0"/>
            </a:br>
            <a:r>
              <a:rPr lang="en-US" dirty="0"/>
              <a:t>D) Large size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Embedded systems are designed to:</a:t>
            </a:r>
            <a:br>
              <a:rPr lang="en-US" dirty="0"/>
            </a:br>
            <a:r>
              <a:rPr lang="en-US" dirty="0"/>
              <a:t>A) Perform multiple unrelated tasks</a:t>
            </a:r>
            <a:br>
              <a:rPr lang="en-US" dirty="0"/>
            </a:br>
            <a:r>
              <a:rPr lang="en-US" dirty="0"/>
              <a:t>B) Perform a specific task ✅</a:t>
            </a:r>
            <a:br>
              <a:rPr lang="en-US" dirty="0"/>
            </a:br>
            <a:r>
              <a:rPr lang="en-US" dirty="0"/>
              <a:t>C) Run heavy software</a:t>
            </a:r>
            <a:br>
              <a:rPr lang="en-US" dirty="0"/>
            </a:br>
            <a:r>
              <a:rPr lang="en-US" dirty="0"/>
              <a:t>D) Store large data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One advantage of embedded systems is:</a:t>
            </a:r>
            <a:br>
              <a:rPr lang="en-US" dirty="0"/>
            </a:br>
            <a:r>
              <a:rPr lang="en-US" dirty="0"/>
              <a:t>A) High power consumption</a:t>
            </a:r>
            <a:br>
              <a:rPr lang="en-US" dirty="0"/>
            </a:br>
            <a:r>
              <a:rPr lang="en-US" dirty="0"/>
              <a:t>B) Low efficiency</a:t>
            </a:r>
            <a:br>
              <a:rPr lang="en-US" dirty="0"/>
            </a:br>
            <a:r>
              <a:rPr lang="en-US" dirty="0"/>
              <a:t>C) High efficiency and performance ✅</a:t>
            </a:r>
            <a:br>
              <a:rPr lang="en-US" dirty="0"/>
            </a:br>
            <a:r>
              <a:rPr lang="en-US" dirty="0"/>
              <a:t>D) Large size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EA7C4-1534-49DC-BA4E-BBC06E5E4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457200"/>
            <a:ext cx="5386386" cy="5715000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/>
              <a:t>A disadvantage of embedded systems is:</a:t>
            </a:r>
            <a:br>
              <a:rPr lang="en-US" dirty="0"/>
            </a:br>
            <a:r>
              <a:rPr lang="en-US" dirty="0"/>
              <a:t>A) High flexibility</a:t>
            </a:r>
            <a:br>
              <a:rPr lang="en-US" dirty="0"/>
            </a:br>
            <a:r>
              <a:rPr lang="en-US" dirty="0"/>
              <a:t>B) Limited processing power ✅</a:t>
            </a:r>
            <a:br>
              <a:rPr lang="en-US" dirty="0"/>
            </a:br>
            <a:r>
              <a:rPr lang="en-US" dirty="0"/>
              <a:t>C) Large size</a:t>
            </a:r>
            <a:br>
              <a:rPr lang="en-US" dirty="0"/>
            </a:br>
            <a:r>
              <a:rPr lang="en-US" dirty="0"/>
              <a:t>D) High energy use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Which of the following is an example of a real-time embedded system?</a:t>
            </a:r>
            <a:br>
              <a:rPr lang="en-US" dirty="0"/>
            </a:br>
            <a:r>
              <a:rPr lang="en-US" dirty="0"/>
              <a:t>A) Digital clock</a:t>
            </a:r>
            <a:br>
              <a:rPr lang="en-US" dirty="0"/>
            </a:br>
            <a:r>
              <a:rPr lang="en-US" dirty="0"/>
              <a:t>B) Heart rate monitor in ICU ✅</a:t>
            </a:r>
            <a:br>
              <a:rPr lang="en-US" dirty="0"/>
            </a:br>
            <a:r>
              <a:rPr lang="en-US" dirty="0"/>
              <a:t>C) Calculator</a:t>
            </a:r>
            <a:br>
              <a:rPr lang="en-US" dirty="0"/>
            </a:br>
            <a:r>
              <a:rPr lang="en-US" dirty="0"/>
              <a:t>D) MP3 player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/>
              <a:t>Which of the following is NOT a standalone embedded system?  A)Digital camera</a:t>
            </a:r>
            <a:br>
              <a:rPr lang="en-US" dirty="0"/>
            </a:br>
            <a:r>
              <a:rPr lang="en-US" dirty="0"/>
              <a:t>B) Microwave oven</a:t>
            </a:r>
            <a:br>
              <a:rPr lang="en-US" dirty="0"/>
            </a:br>
            <a:r>
              <a:rPr lang="en-US" dirty="0"/>
              <a:t>C) Washing machine</a:t>
            </a:r>
            <a:br>
              <a:rPr lang="en-US" dirty="0"/>
            </a:br>
            <a:r>
              <a:rPr lang="en-US" dirty="0"/>
              <a:t>D) Network router ✅</a:t>
            </a:r>
          </a:p>
          <a:p>
            <a:pPr marL="457200" indent="-457200">
              <a:buFont typeface="+mj-lt"/>
              <a:buAutoNum type="arabicPeriod" startAt="4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22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A1D0-6037-4326-A640-B5441F3A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an Embedded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7F821-43EC-4F05-BC4F-17594798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embedded system mainly has: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Input Devices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Processor (Microcontroller)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Output Devices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Power Supply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Software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9861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095F-9681-4827-BC4A-87F16D36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8DD7-9CFB-4FC1-A8BE-D88CA609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What is Input?</a:t>
            </a:r>
            <a:br>
              <a:rPr lang="en-US" sz="2400" dirty="0"/>
            </a:br>
            <a:r>
              <a:rPr lang="en-US" sz="2400" dirty="0"/>
              <a:t>Input is how an embedded system </a:t>
            </a:r>
            <a:r>
              <a:rPr lang="en-US" sz="2400" b="1" dirty="0"/>
              <a:t>receives information</a:t>
            </a:r>
            <a:r>
              <a:rPr lang="en-US" sz="2400" dirty="0"/>
              <a:t>.</a:t>
            </a:r>
          </a:p>
          <a:p>
            <a:r>
              <a:rPr lang="en-US" sz="2400" b="1" dirty="0"/>
              <a:t>Examples: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Switch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Temperature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Light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Keypad</a:t>
            </a:r>
          </a:p>
          <a:p>
            <a:r>
              <a:rPr lang="en-US" sz="2400" b="1" dirty="0"/>
              <a:t>Role:</a:t>
            </a:r>
            <a:r>
              <a:rPr lang="en-US" sz="2400" dirty="0"/>
              <a:t> Sends data/signals to the microcontroller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76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E005-9B89-41D9-A381-35D7B739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Input Devices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0F43-B020-414F-8B24-3A676B5A5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Example: </a:t>
            </a:r>
            <a:r>
              <a:rPr lang="en-IN" sz="2400" b="1" dirty="0"/>
              <a:t>Button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Button pressed → signal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Microcontroller detects HIGH / 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Program responds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dirty="0"/>
              <a:t>Example: </a:t>
            </a:r>
            <a:r>
              <a:rPr lang="en-IN" sz="2400" b="1" dirty="0"/>
              <a:t>Sensor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Physical change → electrical signal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Signal goes to microcontroller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1026" name="Picture 2" descr="Push button electronic component. Push button icon. Isometric push button.  Isometric electronic component. illustration 44228928 Vector Art at Vecteezy">
            <a:extLst>
              <a:ext uri="{FF2B5EF4-FFF2-40B4-BE49-F238E27FC236}">
                <a16:creationId xmlns:a16="http://schemas.microsoft.com/office/drawing/2014/main" id="{F73DFE57-883A-41A6-BD4D-A77744849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781" y="2238375"/>
            <a:ext cx="119062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ltrasonic Sensor Vector Art, Icons ...">
            <a:extLst>
              <a:ext uri="{FF2B5EF4-FFF2-40B4-BE49-F238E27FC236}">
                <a16:creationId xmlns:a16="http://schemas.microsoft.com/office/drawing/2014/main" id="{781D19C8-CC29-42CB-AD13-84FB2192E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469" y="4373118"/>
            <a:ext cx="39052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98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910A-3977-462D-8F16-9325D00B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Processor (Microcontroller)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3892-DFE6-4360-BFC8-469BDEE4A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Microcontroller = Brain</a:t>
            </a:r>
            <a:endParaRPr lang="en-US" sz="2400" dirty="0"/>
          </a:p>
          <a:p>
            <a:r>
              <a:rPr lang="en-US" sz="2400" b="1" dirty="0"/>
              <a:t>What it does: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Reads input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Processes data using program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Controls output devices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8051, </a:t>
            </a:r>
            <a:r>
              <a:rPr lang="en-US" sz="2400" dirty="0" err="1"/>
              <a:t>Atmega</a:t>
            </a:r>
            <a:r>
              <a:rPr lang="en-US" sz="2400" dirty="0"/>
              <a:t>, Arduino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0558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C38C-D8A3-414E-BA17-0A4C8A05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Microcontroller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CBBF-09E1-48D4-B6EF-AAAA52AF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Step-by-step: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Reads input from pins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Executes program (logic)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Decides what to do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Sends signal to output</a:t>
            </a:r>
          </a:p>
          <a:p>
            <a:pPr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 </a:t>
            </a:r>
            <a:r>
              <a:rPr lang="en-US" sz="2400" b="1" dirty="0"/>
              <a:t>Input → Logic → Output</a:t>
            </a:r>
            <a:endParaRPr lang="en-US" sz="2400" dirty="0"/>
          </a:p>
          <a:p>
            <a:endParaRPr lang="en-IN" sz="2400" dirty="0"/>
          </a:p>
        </p:txBody>
      </p:sp>
      <p:pic>
        <p:nvPicPr>
          <p:cNvPr id="2050" name="Picture 2" descr="PIC 16F 1829-I/SO, 16 Bit at ₹ 110/piece in Vadodara | ID: 25215112688">
            <a:extLst>
              <a:ext uri="{FF2B5EF4-FFF2-40B4-BE49-F238E27FC236}">
                <a16:creationId xmlns:a16="http://schemas.microsoft.com/office/drawing/2014/main" id="{EE30C8F2-E1F8-40A9-A641-28E907A1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077" y="2168556"/>
            <a:ext cx="2515845" cy="252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621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9EF9-B3B2-40FE-BEDA-B988CD193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Output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D036-2AFA-412B-B60E-07B742BF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What is Output?</a:t>
            </a:r>
            <a:br>
              <a:rPr lang="en-US" sz="2400" dirty="0"/>
            </a:br>
            <a:r>
              <a:rPr lang="en-US" sz="2400" dirty="0"/>
              <a:t>Output is how the system </a:t>
            </a:r>
            <a:r>
              <a:rPr lang="en-US" sz="2400" b="1" dirty="0"/>
              <a:t>shows results</a:t>
            </a:r>
            <a:r>
              <a:rPr lang="en-US" sz="2400" dirty="0"/>
              <a:t>.</a:t>
            </a:r>
          </a:p>
          <a:p>
            <a:r>
              <a:rPr lang="en-US" sz="2400" b="1" dirty="0"/>
              <a:t>Examples: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LCD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Buzzer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Relay</a:t>
            </a:r>
          </a:p>
          <a:p>
            <a:r>
              <a:rPr lang="en-US" sz="2400" b="1" dirty="0"/>
              <a:t>Role: </a:t>
            </a:r>
            <a:r>
              <a:rPr lang="en-US" sz="2400" dirty="0"/>
              <a:t>Acts based on controller decision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69311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A0C4-E46D-4946-BF25-A0F1CD78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Output Devices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5D0D2-19CE-4C8F-AF28-FA4323595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Example: </a:t>
            </a:r>
            <a:r>
              <a:rPr lang="en-US" sz="2400" b="1" dirty="0"/>
              <a:t>LED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Controller sends signal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LED ON / OFF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Example: </a:t>
            </a:r>
            <a:r>
              <a:rPr lang="en-US" sz="2400" b="1" dirty="0"/>
              <a:t>Motor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Controller controls 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Motor rotates or stops</a:t>
            </a:r>
          </a:p>
          <a:p>
            <a:r>
              <a:rPr lang="en-US" sz="2400" dirty="0"/>
              <a:t>Keep it very practical.</a:t>
            </a:r>
          </a:p>
          <a:p>
            <a:endParaRPr lang="en-IN" sz="2400" dirty="0"/>
          </a:p>
        </p:txBody>
      </p:sp>
      <p:pic>
        <p:nvPicPr>
          <p:cNvPr id="3074" name="Picture 2" descr="Led Symbol Vector Art, Icons, and Graphics for Free Download">
            <a:extLst>
              <a:ext uri="{FF2B5EF4-FFF2-40B4-BE49-F238E27FC236}">
                <a16:creationId xmlns:a16="http://schemas.microsoft.com/office/drawing/2014/main" id="{9034D6E8-4874-4009-855B-74306F01D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889" y="1945569"/>
            <a:ext cx="4005263" cy="148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ld Electric Motor Rotor Vector PNG Images | AI Free Download - Pikbest">
            <a:extLst>
              <a:ext uri="{FF2B5EF4-FFF2-40B4-BE49-F238E27FC236}">
                <a16:creationId xmlns:a16="http://schemas.microsoft.com/office/drawing/2014/main" id="{EE1EC26F-A3B6-4435-8259-8F4FE4FCB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832" y="4146804"/>
            <a:ext cx="1857376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896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14D4-0677-4273-A3FE-78A833F7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Power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E4EB-2B8C-4C60-879A-12FDF530E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Why power supply is important</a:t>
            </a:r>
          </a:p>
          <a:p>
            <a:r>
              <a:rPr lang="en-US" sz="2400" dirty="0"/>
              <a:t>Provides required voltage</a:t>
            </a:r>
          </a:p>
          <a:p>
            <a:r>
              <a:rPr lang="en-US" sz="2400" dirty="0"/>
              <a:t>Ensures stable operation</a:t>
            </a:r>
          </a:p>
          <a:p>
            <a:r>
              <a:rPr lang="en-US" sz="2400" dirty="0"/>
              <a:t>Common sources:</a:t>
            </a:r>
          </a:p>
          <a:p>
            <a:r>
              <a:rPr lang="en-US" sz="2400" b="1" dirty="0"/>
              <a:t>Battery</a:t>
            </a:r>
          </a:p>
          <a:p>
            <a:r>
              <a:rPr lang="en-US" sz="2400" b="1" dirty="0"/>
              <a:t>Adapter</a:t>
            </a:r>
          </a:p>
          <a:p>
            <a:r>
              <a:rPr lang="en-US" sz="2400" b="1" dirty="0"/>
              <a:t>USB</a:t>
            </a:r>
          </a:p>
          <a:p>
            <a:r>
              <a:rPr lang="en-US" sz="2400" dirty="0"/>
              <a:t>Remember: “Wrong power = dead system.”</a:t>
            </a:r>
            <a:endParaRPr lang="en-IN" sz="2400" dirty="0"/>
          </a:p>
        </p:txBody>
      </p:sp>
      <p:pic>
        <p:nvPicPr>
          <p:cNvPr id="4100" name="Picture 4" descr="Battery vector icon isolated on white background 15159431 Vector Art at  Vecteezy">
            <a:extLst>
              <a:ext uri="{FF2B5EF4-FFF2-40B4-BE49-F238E27FC236}">
                <a16:creationId xmlns:a16="http://schemas.microsoft.com/office/drawing/2014/main" id="{047B103B-FDEE-49E1-ABC3-455837C56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775" y="2564606"/>
            <a:ext cx="1728788" cy="172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ower Adapter Icon - Charging Symbol – Royalty-Free Vector | VectorStock">
            <a:extLst>
              <a:ext uri="{FF2B5EF4-FFF2-40B4-BE49-F238E27FC236}">
                <a16:creationId xmlns:a16="http://schemas.microsoft.com/office/drawing/2014/main" id="{79C749E7-667B-4EBE-B0BA-434A8A239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 bwMode="auto">
          <a:xfrm>
            <a:off x="8293594" y="2736056"/>
            <a:ext cx="1425811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dapter vector icon icon | Premium Vector">
            <a:extLst>
              <a:ext uri="{FF2B5EF4-FFF2-40B4-BE49-F238E27FC236}">
                <a16:creationId xmlns:a16="http://schemas.microsoft.com/office/drawing/2014/main" id="{C78A8F19-0E88-49D6-911A-67C434786E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0" t="24361" r="24521" b="22445"/>
          <a:stretch/>
        </p:blipFill>
        <p:spPr bwMode="auto">
          <a:xfrm>
            <a:off x="10022382" y="2884951"/>
            <a:ext cx="1207593" cy="126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269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88FC-E8BA-4ED8-9D27-C156CF18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Software (Program)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1749E-AEA5-41F8-B41B-658B4315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Software tells hardware what to do</a:t>
            </a:r>
          </a:p>
          <a:p>
            <a:endParaRPr lang="en-US" sz="2400" dirty="0"/>
          </a:p>
          <a:p>
            <a:r>
              <a:rPr lang="en-US" sz="2400" dirty="0"/>
              <a:t>Written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Embedded 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Arduino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Assembly (later)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Without software: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Hardware is mostly useless</a:t>
            </a:r>
          </a:p>
          <a:p>
            <a:endParaRPr lang="en-IN" sz="2400" dirty="0"/>
          </a:p>
        </p:txBody>
      </p:sp>
      <p:pic>
        <p:nvPicPr>
          <p:cNvPr id="5122" name="Picture 2" descr="Software development, programming, coding vector concept. | Premium Vector">
            <a:extLst>
              <a:ext uri="{FF2B5EF4-FFF2-40B4-BE49-F238E27FC236}">
                <a16:creationId xmlns:a16="http://schemas.microsoft.com/office/drawing/2014/main" id="{01FAF262-C485-44E7-97BF-C02F54F09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887" y="2093976"/>
            <a:ext cx="36957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368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B70478-1125-4FD8-ABA2-38FF975B8F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47"/>
          <a:stretch/>
        </p:blipFill>
        <p:spPr>
          <a:xfrm>
            <a:off x="1063752" y="1772680"/>
            <a:ext cx="10225774" cy="504874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D747F5-0AB4-4435-8449-413CC487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29856"/>
          </a:xfrm>
        </p:spPr>
        <p:txBody>
          <a:bodyPr/>
          <a:lstStyle/>
          <a:p>
            <a:r>
              <a:rPr lang="en-US" dirty="0"/>
              <a:t>Example 1. Home automation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017C3-409F-43D2-9860-A84EC533C594}"/>
              </a:ext>
            </a:extLst>
          </p:cNvPr>
          <p:cNvSpPr/>
          <p:nvPr/>
        </p:nvSpPr>
        <p:spPr>
          <a:xfrm>
            <a:off x="9586913" y="2543175"/>
            <a:ext cx="528638" cy="6000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196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B70478-1125-4FD8-ABA2-38FF975B8F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47"/>
          <a:stretch/>
        </p:blipFill>
        <p:spPr>
          <a:xfrm>
            <a:off x="820868" y="1772680"/>
            <a:ext cx="10225774" cy="504874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D747F5-0AB4-4435-8449-413CC487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29856"/>
          </a:xfrm>
        </p:spPr>
        <p:txBody>
          <a:bodyPr/>
          <a:lstStyle/>
          <a:p>
            <a:r>
              <a:rPr lang="en-US" dirty="0"/>
              <a:t>Example 2. Smart Agriculture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017C3-409F-43D2-9860-A84EC533C594}"/>
              </a:ext>
            </a:extLst>
          </p:cNvPr>
          <p:cNvSpPr/>
          <p:nvPr/>
        </p:nvSpPr>
        <p:spPr>
          <a:xfrm>
            <a:off x="9344029" y="2543175"/>
            <a:ext cx="528638" cy="6000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E33FD-F405-4B4A-AB6A-98CD2DF7D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90" y="1772680"/>
            <a:ext cx="10718043" cy="243709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EBFC7C-CFFF-417C-AE9E-1FEAD335D3C6}"/>
              </a:ext>
            </a:extLst>
          </p:cNvPr>
          <p:cNvCxnSpPr/>
          <p:nvPr/>
        </p:nvCxnSpPr>
        <p:spPr>
          <a:xfrm flipV="1">
            <a:off x="6289675" y="3841750"/>
            <a:ext cx="0" cy="3680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568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croprocessor Vs Microcontroller | Microprocessor | Microcontroller |  Embedded System">
            <a:extLst>
              <a:ext uri="{FF2B5EF4-FFF2-40B4-BE49-F238E27FC236}">
                <a16:creationId xmlns:a16="http://schemas.microsoft.com/office/drawing/2014/main" id="{4FA37A32-5C66-463B-897D-68881549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582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AC0B-F25A-4415-AFFD-209B9B6F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Microcontroller VS microprocessor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D2DBC-650E-44BE-8814-66024407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IBM Plex Sans" panose="020B0503050203000203" pitchFamily="34" charset="0"/>
              </a:rPr>
              <a:t>Microcontroller units (MCUs)</a:t>
            </a:r>
            <a:r>
              <a:rPr lang="en-US" b="0" i="0" dirty="0">
                <a:effectLst/>
                <a:latin typeface="IBM Plex Sans" panose="020B0503050203000203" pitchFamily="34" charset="0"/>
              </a:rPr>
              <a:t> and </a:t>
            </a:r>
            <a:r>
              <a:rPr lang="en-US" b="0" i="0" u="none" strike="noStrike" dirty="0">
                <a:effectLst/>
                <a:latin typeface="IBM Plex Sans" panose="020B0503050203000203" pitchFamily="34" charset="0"/>
              </a:rPr>
              <a:t>microprocessor units (MPUs)</a:t>
            </a:r>
            <a:r>
              <a:rPr lang="en-US" b="0" i="0" dirty="0">
                <a:effectLst/>
                <a:latin typeface="IBM Plex Sans" panose="020B0503050203000203" pitchFamily="34" charset="0"/>
              </a:rPr>
              <a:t> are two kinds of integrated circuits that, while similar in certain ways also very different in many others.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The key difference between these two units is that microcontrollers combine all the necessary elements </a:t>
            </a:r>
            <a:r>
              <a:rPr lang="en-US" dirty="0">
                <a:solidFill>
                  <a:srgbClr val="161616"/>
                </a:solidFill>
                <a:latin typeface="IBM Plex Sans" panose="020B0503050203000203" pitchFamily="34" charset="0"/>
              </a:rPr>
              <a:t>like </a:t>
            </a:r>
            <a:r>
              <a:rPr lang="en-US" b="1" dirty="0">
                <a:solidFill>
                  <a:srgbClr val="161616"/>
                </a:solidFill>
                <a:latin typeface="IBM Plex Sans" panose="020B0503050203000203" pitchFamily="34" charset="0"/>
              </a:rPr>
              <a:t>Memory, Storage, </a:t>
            </a:r>
            <a:r>
              <a:rPr lang="en-US" b="1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 input/output (I/O) 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components into a single chip, and Microprocessor require all this externally to work. 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743CA-E6C2-44A4-8A3D-61EF04BC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174" y="4146804"/>
            <a:ext cx="5047656" cy="222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25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194C-59AB-49B9-8275-35E7F169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Microcontroller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0C2D-0EC9-471F-B4AD-D19D3C9A0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Microcontroller is a small computer on a single chip, containing a processor core, operational memory (RAM) and electrically erasable programmable read-only memory (EEPROM) for program memory, some  I/O interfaces, and ADCs (Analog to Digital converters.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59321-A0AD-4E6C-A64C-8FDE84968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753" y="3638599"/>
            <a:ext cx="5868494" cy="293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45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verything You Need to Know About Microcontrollers | RS">
            <a:extLst>
              <a:ext uri="{FF2B5EF4-FFF2-40B4-BE49-F238E27FC236}">
                <a16:creationId xmlns:a16="http://schemas.microsoft.com/office/drawing/2014/main" id="{7D826B96-3E4C-4FEA-9F0B-4B6E55BB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930" y="1257997"/>
            <a:ext cx="8632140" cy="487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325FE1-2E31-4117-B826-E1CE724D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58368"/>
          </a:xfrm>
        </p:spPr>
        <p:txBody>
          <a:bodyPr>
            <a:normAutofit/>
          </a:bodyPr>
          <a:lstStyle/>
          <a:p>
            <a:r>
              <a:rPr lang="en-US" sz="3600" dirty="0"/>
              <a:t>Components of a Microcontroller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21232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48ECB7-16C6-4587-AD22-DFAA6670B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83" y="751391"/>
            <a:ext cx="10710433" cy="535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42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6B3E-2FEF-459A-A2F7-048CFD5D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484632"/>
            <a:ext cx="10974515" cy="1609344"/>
          </a:xfrm>
        </p:spPr>
        <p:txBody>
          <a:bodyPr>
            <a:normAutofit/>
          </a:bodyPr>
          <a:lstStyle/>
          <a:p>
            <a:r>
              <a:rPr lang="en-US" sz="4000" dirty="0"/>
              <a:t>Types of Microcontrollers Based on Number of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Bits</a:t>
            </a:r>
            <a:endParaRPr lang="en-IN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6B86-FE6C-4724-AD5B-6D94E8E9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559552" cy="40507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8-bit Microcontrollers</a:t>
            </a:r>
          </a:p>
          <a:p>
            <a:r>
              <a:rPr lang="en-US" dirty="0"/>
              <a:t>Can process </a:t>
            </a:r>
            <a:r>
              <a:rPr lang="en-US" b="1" dirty="0"/>
              <a:t>8 bits of data at a time, </a:t>
            </a:r>
            <a:r>
              <a:rPr lang="en-US" dirty="0"/>
              <a:t> only work within (0–255)</a:t>
            </a:r>
          </a:p>
          <a:p>
            <a:r>
              <a:rPr lang="en-US" b="1" dirty="0"/>
              <a:t>Used for: </a:t>
            </a:r>
            <a:r>
              <a:rPr lang="en-US" dirty="0"/>
              <a:t>Simple control tasks. Basic embedded projects</a:t>
            </a:r>
          </a:p>
          <a:p>
            <a:r>
              <a:rPr lang="en-US" b="1" dirty="0"/>
              <a:t>Examples: </a:t>
            </a:r>
            <a:r>
              <a:rPr lang="en-US" dirty="0"/>
              <a:t>8051, PIC 1x, MC68HC11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/>
              <a:t>16-bit Microcontrollers</a:t>
            </a:r>
          </a:p>
          <a:p>
            <a:r>
              <a:rPr lang="en-US" dirty="0"/>
              <a:t>Can process 16 bits of data at a time, handles larger numbers than 8-bit</a:t>
            </a:r>
          </a:p>
          <a:p>
            <a:r>
              <a:rPr lang="en-US" b="1" dirty="0"/>
              <a:t>Used for: </a:t>
            </a:r>
            <a:r>
              <a:rPr lang="en-US" dirty="0"/>
              <a:t>Medium-level embedded systems, Industrial controllers</a:t>
            </a:r>
          </a:p>
          <a:p>
            <a:r>
              <a:rPr lang="en-US" b="1" dirty="0"/>
              <a:t>Examples: </a:t>
            </a:r>
            <a:r>
              <a:rPr lang="en-US" dirty="0"/>
              <a:t>PIC 2x, Intel 8096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257667-2A18-4B50-BC17-836546A96D70}"/>
              </a:ext>
            </a:extLst>
          </p:cNvPr>
          <p:cNvSpPr txBox="1">
            <a:spLocks/>
          </p:cNvSpPr>
          <p:nvPr/>
        </p:nvSpPr>
        <p:spPr>
          <a:xfrm>
            <a:off x="6629400" y="2093976"/>
            <a:ext cx="5559552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/>
              <a:t>32-bit Microcontrollers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Can process </a:t>
            </a:r>
            <a:r>
              <a:rPr lang="en-US" sz="1900" b="1" dirty="0"/>
              <a:t>32 bits of data at a time, </a:t>
            </a:r>
            <a:r>
              <a:rPr lang="en-US" sz="1900" dirty="0"/>
              <a:t>Very fast and powerful</a:t>
            </a:r>
          </a:p>
          <a:p>
            <a:r>
              <a:rPr lang="en-US" sz="1900" b="1" dirty="0"/>
              <a:t>Used for: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Medical devices, Advanced embedded applications</a:t>
            </a:r>
          </a:p>
          <a:p>
            <a:r>
              <a:rPr lang="en-US" sz="1900" b="1" dirty="0"/>
              <a:t>Examples: </a:t>
            </a:r>
            <a:r>
              <a:rPr lang="en-US" sz="1900" dirty="0"/>
              <a:t>Atmel 251 family, PIC 3x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600" b="1" dirty="0"/>
              <a:t>*Bit size </a:t>
            </a:r>
            <a:r>
              <a:rPr lang="en-US" sz="1600" dirty="0"/>
              <a:t>=</a:t>
            </a:r>
            <a:r>
              <a:rPr lang="en-US" sz="1600" b="1" dirty="0"/>
              <a:t> </a:t>
            </a:r>
            <a:r>
              <a:rPr lang="en-US" sz="1600" dirty="0"/>
              <a:t>how much data the microcontroller can handle at one time</a:t>
            </a:r>
            <a:r>
              <a:rPr lang="en-US" sz="1600" b="1" dirty="0"/>
              <a:t>.</a:t>
            </a: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2675552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C758-5E2A-4F2F-8C7C-7562A03F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Types of Microcontrollers Based on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Memory Type</a:t>
            </a:r>
            <a:endParaRPr lang="en-IN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0678A-526D-4EE4-B252-BE5A1A97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Embedded Memory Microcontroller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Everything is </a:t>
            </a:r>
            <a:r>
              <a:rPr lang="en-US" b="1" dirty="0"/>
              <a:t>inside one chip</a:t>
            </a:r>
            <a:endParaRPr lang="en-US" dirty="0"/>
          </a:p>
          <a:p>
            <a:r>
              <a:rPr lang="en-US" b="1" dirty="0"/>
              <a:t>Includes: </a:t>
            </a:r>
            <a:r>
              <a:rPr lang="en-US" dirty="0"/>
              <a:t>Program memory, Data memory, I/O ports, Timers &amp; counters</a:t>
            </a:r>
          </a:p>
          <a:p>
            <a:r>
              <a:rPr lang="en-US" dirty="0"/>
              <a:t>Compact design, Less external hardware, Easy to use</a:t>
            </a:r>
          </a:p>
          <a:p>
            <a:r>
              <a:rPr lang="en-US" b="1" dirty="0"/>
              <a:t>Example: </a:t>
            </a:r>
            <a:r>
              <a:rPr lang="en-US" dirty="0"/>
              <a:t>8051 microcontroller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External Memory Microcontroller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parts are </a:t>
            </a:r>
            <a:r>
              <a:rPr lang="en-US" b="1" dirty="0"/>
              <a:t>outside the chip</a:t>
            </a:r>
            <a:endParaRPr lang="en-US" dirty="0"/>
          </a:p>
          <a:p>
            <a:r>
              <a:rPr lang="en-US" b="1" dirty="0"/>
              <a:t>Important point: </a:t>
            </a:r>
            <a:r>
              <a:rPr lang="en-US" dirty="0"/>
              <a:t>Program memory is connected externally</a:t>
            </a:r>
          </a:p>
          <a:p>
            <a:r>
              <a:rPr lang="en-US" dirty="0"/>
              <a:t>Bigger circuit ,More components required</a:t>
            </a:r>
          </a:p>
          <a:p>
            <a:r>
              <a:rPr lang="en-US" b="1" dirty="0"/>
              <a:t>Example: </a:t>
            </a:r>
            <a:r>
              <a:rPr lang="en-US" dirty="0"/>
              <a:t>8031 microcontroller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518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54C5-18FD-49CF-A562-E4B84D3D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1122152" cy="1609344"/>
          </a:xfrm>
        </p:spPr>
        <p:txBody>
          <a:bodyPr>
            <a:normAutofit/>
          </a:bodyPr>
          <a:lstStyle/>
          <a:p>
            <a:r>
              <a:rPr lang="en-US" sz="4000" dirty="0"/>
              <a:t>Types of Microcontrollers Based on </a:t>
            </a:r>
            <a:r>
              <a:rPr lang="en-US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Instruction Set</a:t>
            </a:r>
            <a:endParaRPr lang="en-IN" sz="4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AF79-14AF-4F95-ABEA-EC291FEB9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CISC (Complex Instruction Set Computer) </a:t>
            </a:r>
          </a:p>
          <a:p>
            <a:r>
              <a:rPr lang="en-US" dirty="0"/>
              <a:t>One instruction can do many operations</a:t>
            </a:r>
          </a:p>
          <a:p>
            <a:r>
              <a:rPr lang="en-US" dirty="0"/>
              <a:t>Advantages: Fewer lines of code, Shorter programs </a:t>
            </a:r>
          </a:p>
          <a:p>
            <a:r>
              <a:rPr lang="en-US" dirty="0"/>
              <a:t>Disadvantage: Instructions are complex Slower execution in some cases </a:t>
            </a:r>
          </a:p>
          <a:p>
            <a:r>
              <a:rPr lang="en-US" dirty="0"/>
              <a:t>Example “One command does many jobs.”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RISC (Reduced Instruction Set Computer) </a:t>
            </a:r>
          </a:p>
          <a:p>
            <a:r>
              <a:rPr lang="en-US" dirty="0"/>
              <a:t>Uses small and simple instructions </a:t>
            </a:r>
          </a:p>
          <a:p>
            <a:r>
              <a:rPr lang="en-US" dirty="0"/>
              <a:t>Advantages: Faster execution, Less clock cycles per instruction, Better performance </a:t>
            </a:r>
          </a:p>
          <a:p>
            <a:r>
              <a:rPr lang="en-US" dirty="0"/>
              <a:t>Why faster? Instructions are simple and optimized</a:t>
            </a:r>
          </a:p>
          <a:p>
            <a:r>
              <a:rPr lang="en-US" dirty="0"/>
              <a:t> Example “Many small steps, but very fast.”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44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81B1-6C3D-4337-A5A1-DE81DB94E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12064"/>
            <a:ext cx="11488865" cy="1609344"/>
          </a:xfrm>
        </p:spPr>
        <p:txBody>
          <a:bodyPr>
            <a:normAutofit/>
          </a:bodyPr>
          <a:lstStyle/>
          <a:p>
            <a:r>
              <a:rPr lang="en-US" sz="3600" dirty="0"/>
              <a:t>Types of Microcontrollers Based on </a:t>
            </a:r>
            <a:r>
              <a:rPr lang="en-US" sz="3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Memory Architecture</a:t>
            </a:r>
            <a:endParaRPr lang="en-IN" sz="3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F5148-041E-41F2-A1C8-1A3137F2C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Harvard Architecture Microcontroller</a:t>
            </a:r>
          </a:p>
          <a:p>
            <a:r>
              <a:rPr lang="en-US" dirty="0"/>
              <a:t>Program memory and data memory are separate</a:t>
            </a:r>
          </a:p>
          <a:p>
            <a:r>
              <a:rPr lang="en-US" dirty="0"/>
              <a:t>Advantages: Faster execution, Can access program and data at the same time</a:t>
            </a:r>
          </a:p>
          <a:p>
            <a:r>
              <a:rPr lang="en-US" dirty="0"/>
              <a:t>Used in: Most modern microcontrollers</a:t>
            </a:r>
          </a:p>
          <a:p>
            <a:r>
              <a:rPr lang="en-US" dirty="0"/>
              <a:t>Example “Two separate roads → no traffic.”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/>
              <a:t>Von Neumann Architecture Microcontroller </a:t>
            </a:r>
          </a:p>
          <a:p>
            <a:r>
              <a:rPr lang="en-IN" dirty="0"/>
              <a:t>Program and data share same memory </a:t>
            </a:r>
          </a:p>
          <a:p>
            <a:r>
              <a:rPr lang="en-IN" dirty="0"/>
              <a:t>Advantages: Simple design, Low cost</a:t>
            </a:r>
          </a:p>
          <a:p>
            <a:r>
              <a:rPr lang="en-IN" dirty="0"/>
              <a:t>Disadvantages: Slower performance</a:t>
            </a:r>
          </a:p>
          <a:p>
            <a:r>
              <a:rPr lang="en-IN" dirty="0"/>
              <a:t>Example “One road → traffic possible.”</a:t>
            </a:r>
          </a:p>
        </p:txBody>
      </p:sp>
    </p:spTree>
    <p:extLst>
      <p:ext uri="{BB962C8B-B14F-4D97-AF65-F5344CB8AC3E}">
        <p14:creationId xmlns:p14="http://schemas.microsoft.com/office/powerpoint/2010/main" val="472795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88B3-290E-425B-9ACD-594447BC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Microprocessor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FCE10-B66E-4FD4-9A20-C72B5C51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Microprocessor is a programmable device that takes in input, performs some arithmetic and logical operations over it and produces the desired output. In simple words, a Microprocessor is a digital device on a chip that can fetch instructions from memory, decode and execute them, and give results. </a:t>
            </a:r>
            <a:endParaRPr lang="en-IN" dirty="0"/>
          </a:p>
        </p:txBody>
      </p:sp>
      <p:pic>
        <p:nvPicPr>
          <p:cNvPr id="1028" name="Picture 4" descr="Microprocessor : Architecture, Types, Examples and its ...">
            <a:extLst>
              <a:ext uri="{FF2B5EF4-FFF2-40B4-BE49-F238E27FC236}">
                <a16:creationId xmlns:a16="http://schemas.microsoft.com/office/drawing/2014/main" id="{5443C973-6726-4662-8FB8-D80817FF7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010" y="3429000"/>
            <a:ext cx="5700916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178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90C6-EA36-4857-BC68-90F60BAA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2E174-8427-4651-B8C4-CD316B5C3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sensor is a device that detects physical, or environmental input—such as light, heat, motion, moisture, or pressure—and converts it into a signal, typically electrical, that can be measured, interpreted, or used to trigger a response</a:t>
            </a:r>
            <a:endParaRPr lang="en-IN" dirty="0"/>
          </a:p>
        </p:txBody>
      </p:sp>
      <p:pic>
        <p:nvPicPr>
          <p:cNvPr id="2050" name="Picture 2" descr="What Is a Sensor? Types, Uses &amp; Working Explained – Robocraze">
            <a:extLst>
              <a:ext uri="{FF2B5EF4-FFF2-40B4-BE49-F238E27FC236}">
                <a16:creationId xmlns:a16="http://schemas.microsoft.com/office/drawing/2014/main" id="{87093C99-01E6-468F-915C-57AB24F97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08" b="19375"/>
          <a:stretch/>
        </p:blipFill>
        <p:spPr bwMode="auto">
          <a:xfrm>
            <a:off x="2681288" y="3743326"/>
            <a:ext cx="6219825" cy="198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11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AC59-382D-40F1-AE1F-E183643F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6FC4-4634-4BF0-81A7-6408FF78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Actuator is a device that converts the electrical signals into the physical events or characteristics. It takes the input from the system and gives output to the environment.</a:t>
            </a:r>
          </a:p>
          <a:p>
            <a:r>
              <a:rPr lang="en-US" dirty="0"/>
              <a:t> For example, motors and heaters are some of the commonly used actuators.</a:t>
            </a:r>
            <a:endParaRPr lang="en-IN" dirty="0"/>
          </a:p>
        </p:txBody>
      </p:sp>
      <p:pic>
        <p:nvPicPr>
          <p:cNvPr id="3074" name="Picture 2" descr="Linear actuators 101 - How does an actuator work | FIRGELLI">
            <a:extLst>
              <a:ext uri="{FF2B5EF4-FFF2-40B4-BE49-F238E27FC236}">
                <a16:creationId xmlns:a16="http://schemas.microsoft.com/office/drawing/2014/main" id="{BAFDB714-7E8A-4663-BFD7-3FFBA678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4146804"/>
            <a:ext cx="6534150" cy="2096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879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DFBD-5DC6-4B59-8EB3-95D887FD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transducer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19085-3E62-45D1-B9C8-57F841F0C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transducer is a device that converts energy from one form into another, typically transforming physical quantities (such as pressure, temperature, light, or motion) into measurable electrical signals, or vice versa.</a:t>
            </a:r>
          </a:p>
          <a:p>
            <a:r>
              <a:rPr lang="en-US" dirty="0"/>
              <a:t>For Example: Microphone, Motor, etc.</a:t>
            </a:r>
            <a:endParaRPr lang="en-IN" dirty="0"/>
          </a:p>
        </p:txBody>
      </p:sp>
      <p:pic>
        <p:nvPicPr>
          <p:cNvPr id="4098" name="Picture 2" descr="Transducer Types : Characteristics and Their Applications">
            <a:extLst>
              <a:ext uri="{FF2B5EF4-FFF2-40B4-BE49-F238E27FC236}">
                <a16:creationId xmlns:a16="http://schemas.microsoft.com/office/drawing/2014/main" id="{60E82719-3A5B-43C1-AA0A-5E53E62DE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3" y="3695700"/>
            <a:ext cx="4694369" cy="227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905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F3D7-325F-488A-A2CC-D239F7B3B1A7}"/>
              </a:ext>
            </a:extLst>
          </p:cNvPr>
          <p:cNvSpPr txBox="1">
            <a:spLocks/>
          </p:cNvSpPr>
          <p:nvPr/>
        </p:nvSpPr>
        <p:spPr>
          <a:xfrm>
            <a:off x="3655886" y="2624328"/>
            <a:ext cx="4373690" cy="1609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/>
              <a:t>Thank you !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623479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81</TotalTime>
  <Words>2060</Words>
  <Application>Microsoft Office PowerPoint</Application>
  <PresentationFormat>Widescreen</PresentationFormat>
  <Paragraphs>232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Abadi</vt:lpstr>
      <vt:lpstr>Arial</vt:lpstr>
      <vt:lpstr>Calibri</vt:lpstr>
      <vt:lpstr>IBM Plex Sans</vt:lpstr>
      <vt:lpstr>Rockwell</vt:lpstr>
      <vt:lpstr>Rockwell Condensed</vt:lpstr>
      <vt:lpstr>Wingdings</vt:lpstr>
      <vt:lpstr>Wood Type</vt:lpstr>
      <vt:lpstr>Embedded Systems and IoT</vt:lpstr>
      <vt:lpstr>What is an Embedded System?</vt:lpstr>
      <vt:lpstr>PowerPoint Presentation</vt:lpstr>
      <vt:lpstr>Why Do We Need Embedded Systems?</vt:lpstr>
      <vt:lpstr>How Does an Embedded System Work?</vt:lpstr>
      <vt:lpstr>Components of Embedded Systems</vt:lpstr>
      <vt:lpstr>PowerPoint Presentation</vt:lpstr>
      <vt:lpstr>PowerPoint Presentation</vt:lpstr>
      <vt:lpstr>Characteristics of an Embedded System</vt:lpstr>
      <vt:lpstr>Characteristics of an Embedded System</vt:lpstr>
      <vt:lpstr>PowerPoint Presentation</vt:lpstr>
      <vt:lpstr>Advantages / Disadvantages of Embedded systems </vt:lpstr>
      <vt:lpstr>PowerPoint Presentation</vt:lpstr>
      <vt:lpstr>PowerPoint Presentation</vt:lpstr>
      <vt:lpstr>PowerPoint Presentation</vt:lpstr>
      <vt:lpstr>Components of an Embedded System</vt:lpstr>
      <vt:lpstr>1. Input Devices</vt:lpstr>
      <vt:lpstr>How Input Devices Work?</vt:lpstr>
      <vt:lpstr>2. Processor (Microcontroller)</vt:lpstr>
      <vt:lpstr>How Microcontroller Works?</vt:lpstr>
      <vt:lpstr>3. Output Devices</vt:lpstr>
      <vt:lpstr>How Output Devices Work?</vt:lpstr>
      <vt:lpstr>4. Power Supply</vt:lpstr>
      <vt:lpstr>5. Software (Program)</vt:lpstr>
      <vt:lpstr>Example 1. Home automation</vt:lpstr>
      <vt:lpstr>Example 2. Smart Agriculture</vt:lpstr>
      <vt:lpstr>PowerPoint Presentation</vt:lpstr>
      <vt:lpstr>Microcontroller VS microprocessor </vt:lpstr>
      <vt:lpstr>Microcontroller </vt:lpstr>
      <vt:lpstr>Components of a Microcontroller </vt:lpstr>
      <vt:lpstr>PowerPoint Presentation</vt:lpstr>
      <vt:lpstr>Types of Microcontrollers Based on Number of Bits</vt:lpstr>
      <vt:lpstr>Types of Microcontrollers Based on Memory Type</vt:lpstr>
      <vt:lpstr>Types of Microcontrollers Based on Instruction Set</vt:lpstr>
      <vt:lpstr>Types of Microcontrollers Based on Memory Architecture</vt:lpstr>
      <vt:lpstr>Microprocessor</vt:lpstr>
      <vt:lpstr>Sensor</vt:lpstr>
      <vt:lpstr>Actuators</vt:lpstr>
      <vt:lpstr> transducer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Microcontroller-Based Embedded System Design</dc:title>
  <dc:creator>chandramouli Haldar</dc:creator>
  <cp:lastModifiedBy>chandramouli Haldar</cp:lastModifiedBy>
  <cp:revision>8</cp:revision>
  <dcterms:created xsi:type="dcterms:W3CDTF">2026-01-31T13:10:58Z</dcterms:created>
  <dcterms:modified xsi:type="dcterms:W3CDTF">2026-04-06T07:25:22Z</dcterms:modified>
</cp:coreProperties>
</file>